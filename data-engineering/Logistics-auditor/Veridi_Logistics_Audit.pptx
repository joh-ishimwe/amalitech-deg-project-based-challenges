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charts/chart1.xml" ContentType="application/vnd.openxmlformats-officedocument.drawingml.chart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charts/chart2.xml" ContentType="application/vnd.openxmlformats-officedocument.drawingml.chart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charts/chart5.xml" ContentType="application/vnd.openxmlformats-officedocument.drawingml.chart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4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_rels/chart5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5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0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Orders</c:v>
                </c:pt>
              </c:strCache>
            </c:strRef>
          </c:tx>
          <c:spPr>
            <a:solidFill>
              <a:srgbClr val="15803D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1E293B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15803D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D97706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DC2626"/>
              </a:solidFill>
              <a:effectLst/>
            </c:spPr>
          </c:dPt>
          <c:cat>
            <c:multiLvlStrRef>
              <c:f>Sheet1!$A$2:$A$4</c:f>
              <c:multiLvlStrCache>
                <c:ptCount val="3"/>
                <c:lvl>
                  <c:pt idx="0">
                    <c:v>On Time</c:v>
                  </c:pt>
                  <c:pt idx="1">
                    <c:v>Late</c:v>
                  </c:pt>
                  <c:pt idx="2">
                    <c:v>Super Late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88704</c:v>
                </c:pt>
                <c:pt idx="1">
                  <c:v>4924</c:v>
                </c:pt>
                <c:pt idx="2">
                  <c:v>2896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100" u="none">
                  <a:solidFill>
                    <a:srgbClr val="1E293B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0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Late %</c:v>
                </c:pt>
              </c:strCache>
            </c:strRef>
          </c:tx>
          <c:spPr>
            <a:solidFill>
              <a:srgbClr val="DC2626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800" u="none">
                    <a:solidFill>
                      <a:srgbClr val="1E293B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DC2626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DC2626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DC2626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DC2626"/>
              </a:solidFill>
              <a:effectLst/>
            </c:spPr>
          </c:dPt>
          <c:dPt>
            <c:idx val="4"/>
            <c:invertIfNegative val="0"/>
            <c:bubble3D val="0"/>
            <c:spPr>
              <a:solidFill>
                <a:srgbClr val="DC2626"/>
              </a:solidFill>
              <a:effectLst/>
            </c:spPr>
          </c:dPt>
          <c:dPt>
            <c:idx val="5"/>
            <c:invertIfNegative val="0"/>
            <c:bubble3D val="0"/>
            <c:spPr>
              <a:solidFill>
                <a:srgbClr val="DC2626"/>
              </a:solidFill>
              <a:effectLst/>
            </c:spPr>
          </c:dPt>
          <c:dPt>
            <c:idx val="6"/>
            <c:invertIfNegative val="0"/>
            <c:bubble3D val="0"/>
            <c:spPr>
              <a:solidFill>
                <a:srgbClr val="D97706"/>
              </a:solidFill>
              <a:effectLst/>
            </c:spPr>
          </c:dPt>
          <c:dPt>
            <c:idx val="7"/>
            <c:invertIfNegative val="0"/>
            <c:bubble3D val="0"/>
            <c:spPr>
              <a:solidFill>
                <a:srgbClr val="D97706"/>
              </a:solidFill>
              <a:effectLst/>
            </c:spPr>
          </c:dPt>
          <c:dPt>
            <c:idx val="8"/>
            <c:invertIfNegative val="0"/>
            <c:bubble3D val="0"/>
            <c:spPr>
              <a:solidFill>
                <a:srgbClr val="D97706"/>
              </a:solidFill>
              <a:effectLst/>
            </c:spPr>
          </c:dPt>
          <c:dPt>
            <c:idx val="9"/>
            <c:invertIfNegative val="0"/>
            <c:bubble3D val="0"/>
            <c:spPr>
              <a:solidFill>
                <a:srgbClr val="D97706"/>
              </a:solidFill>
              <a:effectLst/>
            </c:spPr>
          </c:dPt>
          <c:dPt>
            <c:idx val="10"/>
            <c:invertIfNegative val="0"/>
            <c:bubble3D val="0"/>
            <c:spPr>
              <a:solidFill>
                <a:srgbClr val="D97706"/>
              </a:solidFill>
              <a:effectLst/>
            </c:spPr>
          </c:dPt>
          <c:dPt>
            <c:idx val="11"/>
            <c:invertIfNegative val="0"/>
            <c:bubble3D val="0"/>
            <c:spPr>
              <a:solidFill>
                <a:srgbClr val="D97706"/>
              </a:solidFill>
              <a:effectLst/>
            </c:spPr>
          </c:dPt>
          <c:dPt>
            <c:idx val="12"/>
            <c:invertIfNegative val="0"/>
            <c:bubble3D val="0"/>
            <c:spPr>
              <a:solidFill>
                <a:srgbClr val="D97706"/>
              </a:solidFill>
              <a:effectLst/>
            </c:spPr>
          </c:dPt>
          <c:dPt>
            <c:idx val="13"/>
            <c:invertIfNegative val="0"/>
            <c:bubble3D val="0"/>
            <c:spPr>
              <a:solidFill>
                <a:srgbClr val="0891B2"/>
              </a:solidFill>
              <a:effectLst/>
            </c:spPr>
          </c:dPt>
          <c:dPt>
            <c:idx val="14"/>
            <c:invertIfNegative val="0"/>
            <c:bubble3D val="0"/>
            <c:spPr>
              <a:solidFill>
                <a:srgbClr val="0891B2"/>
              </a:solidFill>
              <a:effectLst/>
            </c:spPr>
          </c:dPt>
          <c:dPt>
            <c:idx val="15"/>
            <c:invertIfNegative val="0"/>
            <c:bubble3D val="0"/>
            <c:spPr>
              <a:solidFill>
                <a:srgbClr val="0891B2"/>
              </a:solidFill>
              <a:effectLst/>
            </c:spPr>
          </c:dPt>
          <c:dPt>
            <c:idx val="16"/>
            <c:invertIfNegative val="0"/>
            <c:bubble3D val="0"/>
            <c:spPr>
              <a:solidFill>
                <a:srgbClr val="0891B2"/>
              </a:solidFill>
              <a:effectLst/>
            </c:spPr>
          </c:dPt>
          <c:dPt>
            <c:idx val="17"/>
            <c:invertIfNegative val="0"/>
            <c:bubble3D val="0"/>
            <c:spPr>
              <a:solidFill>
                <a:srgbClr val="0891B2"/>
              </a:solidFill>
              <a:effectLst/>
            </c:spPr>
          </c:dPt>
          <c:dPt>
            <c:idx val="18"/>
            <c:invertIfNegative val="0"/>
            <c:bubble3D val="0"/>
            <c:spPr>
              <a:solidFill>
                <a:srgbClr val="0891B2"/>
              </a:solidFill>
              <a:effectLst/>
            </c:spPr>
          </c:dPt>
          <c:dPt>
            <c:idx val="19"/>
            <c:invertIfNegative val="0"/>
            <c:bubble3D val="0"/>
            <c:spPr>
              <a:solidFill>
                <a:srgbClr val="0891B2"/>
              </a:solidFill>
              <a:effectLst/>
            </c:spPr>
          </c:dPt>
          <c:dPt>
            <c:idx val="20"/>
            <c:invertIfNegative val="0"/>
            <c:bubble3D val="0"/>
            <c:spPr>
              <a:solidFill>
                <a:srgbClr val="0891B2"/>
              </a:solidFill>
              <a:effectLst/>
            </c:spPr>
          </c:dPt>
          <c:dPt>
            <c:idx val="21"/>
            <c:invertIfNegative val="0"/>
            <c:bubble3D val="0"/>
            <c:spPr>
              <a:solidFill>
                <a:srgbClr val="0891B2"/>
              </a:solidFill>
              <a:effectLst/>
            </c:spPr>
          </c:dPt>
          <c:cat>
            <c:multiLvlStrRef>
              <c:f>Sheet1!$A$2:$A$23</c:f>
              <c:multiLvlStrCache>
                <c:ptCount val="22"/>
                <c:lvl>
                  <c:pt idx="0">
                    <c:v>AL</c:v>
                  </c:pt>
                  <c:pt idx="1">
                    <c:v>MA</c:v>
                  </c:pt>
                  <c:pt idx="2">
                    <c:v>PI</c:v>
                  </c:pt>
                  <c:pt idx="3">
                    <c:v>CE</c:v>
                  </c:pt>
                  <c:pt idx="4">
                    <c:v>SE</c:v>
                  </c:pt>
                  <c:pt idx="5">
                    <c:v>PB</c:v>
                  </c:pt>
                  <c:pt idx="6">
                    <c:v>BA</c:v>
                  </c:pt>
                  <c:pt idx="7">
                    <c:v>PE</c:v>
                  </c:pt>
                  <c:pt idx="8">
                    <c:v>RN</c:v>
                  </c:pt>
                  <c:pt idx="9">
                    <c:v>AM</c:v>
                  </c:pt>
                  <c:pt idx="10">
                    <c:v>PA</c:v>
                  </c:pt>
                  <c:pt idx="11">
                    <c:v>TO</c:v>
                  </c:pt>
                  <c:pt idx="12">
                    <c:v>GO</c:v>
                  </c:pt>
                  <c:pt idx="13">
                    <c:v>MT</c:v>
                  </c:pt>
                  <c:pt idx="14">
                    <c:v>MG</c:v>
                  </c:pt>
                  <c:pt idx="15">
                    <c:v>ES</c:v>
                  </c:pt>
                  <c:pt idx="16">
                    <c:v>RS</c:v>
                  </c:pt>
                  <c:pt idx="17">
                    <c:v>SC</c:v>
                  </c:pt>
                  <c:pt idx="18">
                    <c:v>PR</c:v>
                  </c:pt>
                  <c:pt idx="19">
                    <c:v>RJ</c:v>
                  </c:pt>
                  <c:pt idx="20">
                    <c:v>SP</c:v>
                  </c:pt>
                  <c:pt idx="21">
                    <c:v>RO</c:v>
                  </c:pt>
                </c:lvl>
              </c:multiLvlStrCache>
            </c:multiLvlStrRef>
          </c:cat>
          <c:val>
            <c:numRef>
              <c:f>Sheet1!$B$2:$B$23</c:f>
              <c:numCache>
                <c:formatCode>General</c:formatCode>
                <c:ptCount val="22"/>
                <c:pt idx="0">
                  <c:v>23.9</c:v>
                </c:pt>
                <c:pt idx="1">
                  <c:v>22.1</c:v>
                </c:pt>
                <c:pt idx="2">
                  <c:v>20.4</c:v>
                </c:pt>
                <c:pt idx="3">
                  <c:v>17.8</c:v>
                </c:pt>
                <c:pt idx="4">
                  <c:v>16.9</c:v>
                </c:pt>
                <c:pt idx="5">
                  <c:v>15.2</c:v>
                </c:pt>
                <c:pt idx="6">
                  <c:v>13.7</c:v>
                </c:pt>
                <c:pt idx="7">
                  <c:v>13</c:v>
                </c:pt>
                <c:pt idx="8">
                  <c:v>12.8</c:v>
                </c:pt>
                <c:pt idx="9">
                  <c:v>12.3</c:v>
                </c:pt>
                <c:pt idx="10">
                  <c:v>11.8</c:v>
                </c:pt>
                <c:pt idx="11">
                  <c:v>11.5</c:v>
                </c:pt>
                <c:pt idx="12">
                  <c:v>10.1</c:v>
                </c:pt>
                <c:pt idx="13">
                  <c:v>9.7</c:v>
                </c:pt>
                <c:pt idx="14">
                  <c:v>7.8</c:v>
                </c:pt>
                <c:pt idx="15">
                  <c:v>7.1</c:v>
                </c:pt>
                <c:pt idx="16">
                  <c:v>6.8</c:v>
                </c:pt>
                <c:pt idx="17">
                  <c:v>6.5</c:v>
                </c:pt>
                <c:pt idx="18">
                  <c:v>6.2</c:v>
                </c:pt>
                <c:pt idx="19">
                  <c:v>6</c:v>
                </c:pt>
                <c:pt idx="20">
                  <c:v>5.6</c:v>
                </c:pt>
                <c:pt idx="21">
                  <c:v>2.9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800" u="none">
                  <a:solidFill>
                    <a:srgbClr val="1E293B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0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Avg Review</c:v>
                </c:pt>
              </c:strCache>
            </c:strRef>
          </c:tx>
          <c:spPr>
            <a:solidFill>
              <a:srgbClr val="15803D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300" u="none">
                    <a:solidFill>
                      <a:srgbClr val="1E293B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15803D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D97706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DC2626"/>
              </a:solidFill>
              <a:effectLst/>
            </c:spPr>
          </c:dPt>
          <c:cat>
            <c:multiLvlStrRef>
              <c:f>Sheet1!$A$2:$A$4</c:f>
              <c:multiLvlStrCache>
                <c:ptCount val="3"/>
                <c:lvl>
                  <c:pt idx="0">
                    <c:v>On Time</c:v>
                  </c:pt>
                  <c:pt idx="1">
                    <c:v>Late</c:v>
                  </c:pt>
                  <c:pt idx="2">
                    <c:v>Super Late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4.29</c:v>
                </c:pt>
                <c:pt idx="1">
                  <c:v>3.46</c:v>
                </c:pt>
                <c:pt idx="2">
                  <c:v>1.78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300" u="none">
                  <a:solidFill>
                    <a:srgbClr val="1E293B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5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0"/>
  <c:chart>
    <c:autoTitleDeleted val="1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Avg Score</c:v>
                </c:pt>
              </c:strCache>
            </c:strRef>
          </c:tx>
          <c:spPr>
            <a:solidFill>
              <a:srgbClr val="0891B2"/>
            </a:solidFill>
            <a:ln w="38100" cap="flat">
              <a:solidFill>
                <a:srgbClr val="0891B2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0891B2"/>
              </a:solidFill>
              <a:ln w="9525" cap="flat">
                <a:solidFill>
                  <a:srgbClr val="0891B2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Sheet1!$A$2:$A$10</c:f>
              <c:multiLvlStrCache>
                <c:ptCount val="9"/>
                <c:lvl>
                  <c:pt idx="0">
                    <c:v>&gt;30d Late</c:v>
                  </c:pt>
                  <c:pt idx="1">
                    <c:v>15-30d</c:v>
                  </c:pt>
                  <c:pt idx="2">
                    <c:v>8-14d</c:v>
                  </c:pt>
                  <c:pt idx="3">
                    <c:v>6-7d</c:v>
                  </c:pt>
                  <c:pt idx="4">
                    <c:v>3-5d</c:v>
                  </c:pt>
                  <c:pt idx="5">
                    <c:v>1-2d Late</c:v>
                  </c:pt>
                  <c:pt idx="6">
                    <c:v>On Time</c:v>
                  </c:pt>
                  <c:pt idx="7">
                    <c:v>1-7d Early</c:v>
                  </c:pt>
                  <c:pt idx="8">
                    <c:v>&gt;7d Early</c:v>
                  </c:pt>
                </c:lvl>
              </c:multiLvlStrCache>
            </c:multiLvlStrRef>
          </c:cat>
          <c:val>
            <c:numRef>
              <c:f>Sheet1!$B$2:$B$10</c:f>
              <c:numCache>
                <c:formatCode>General</c:formatCode>
                <c:ptCount val="9"/>
                <c:pt idx="0">
                  <c:v>1.75</c:v>
                </c:pt>
                <c:pt idx="1">
                  <c:v>1.8</c:v>
                </c:pt>
                <c:pt idx="2">
                  <c:v>1.95</c:v>
                </c:pt>
                <c:pt idx="3">
                  <c:v>2.3</c:v>
                </c:pt>
                <c:pt idx="4">
                  <c:v>3.65</c:v>
                </c:pt>
                <c:pt idx="5">
                  <c:v>4.2</c:v>
                </c:pt>
                <c:pt idx="6">
                  <c:v>4.29</c:v>
                </c:pt>
                <c:pt idx="7">
                  <c:v>4.38</c:v>
                </c:pt>
                <c:pt idx="8">
                  <c:v>4.45</c:v>
                </c:pt>
              </c:numCache>
            </c:numRef>
          </c:val>
          <c:smooth val="1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5"/>
          <c:min val="1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0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Late Rate %</c:v>
                </c:pt>
              </c:strCache>
            </c:strRef>
          </c:tx>
          <c:spPr>
            <a:solidFill>
              <a:srgbClr val="DC2626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1E293B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DC2626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DC2626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DC2626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D97706"/>
              </a:solidFill>
              <a:effectLst/>
            </c:spPr>
          </c:dPt>
          <c:dPt>
            <c:idx val="4"/>
            <c:invertIfNegative val="0"/>
            <c:bubble3D val="0"/>
            <c:spPr>
              <a:solidFill>
                <a:srgbClr val="D97706"/>
              </a:solidFill>
              <a:effectLst/>
            </c:spPr>
          </c:dPt>
          <c:dPt>
            <c:idx val="5"/>
            <c:invertIfNegative val="0"/>
            <c:bubble3D val="0"/>
            <c:spPr>
              <a:solidFill>
                <a:srgbClr val="D97706"/>
              </a:solidFill>
              <a:effectLst/>
            </c:spPr>
          </c:dPt>
          <c:dPt>
            <c:idx val="6"/>
            <c:invertIfNegative val="0"/>
            <c:bubble3D val="0"/>
            <c:spPr>
              <a:solidFill>
                <a:srgbClr val="D97706"/>
              </a:solidFill>
              <a:effectLst/>
            </c:spPr>
          </c:dPt>
          <c:dPt>
            <c:idx val="7"/>
            <c:invertIfNegative val="0"/>
            <c:bubble3D val="0"/>
            <c:spPr>
              <a:solidFill>
                <a:srgbClr val="D97706"/>
              </a:solidFill>
              <a:effectLst/>
            </c:spPr>
          </c:dPt>
          <c:dPt>
            <c:idx val="8"/>
            <c:invertIfNegative val="0"/>
            <c:bubble3D val="0"/>
            <c:spPr>
              <a:solidFill>
                <a:srgbClr val="15803D"/>
              </a:solidFill>
              <a:effectLst/>
            </c:spPr>
          </c:dPt>
          <c:dPt>
            <c:idx val="9"/>
            <c:invertIfNegative val="0"/>
            <c:bubble3D val="0"/>
            <c:spPr>
              <a:solidFill>
                <a:srgbClr val="D97706"/>
              </a:solidFill>
              <a:effectLst/>
            </c:spPr>
          </c:dPt>
          <c:cat>
            <c:multiLvlStrRef>
              <c:f>Sheet1!$A$2:$A$11</c:f>
              <c:multiLvlStrCache>
                <c:ptCount val="10"/>
                <c:lvl>
                  <c:pt idx="0">
                    <c:v>audio</c:v>
                  </c:pt>
                  <c:pt idx="1">
                    <c:v>fashion
underwear</c:v>
                  </c:pt>
                  <c:pt idx="2">
                    <c:v>home
comfort</c:v>
                  </c:pt>
                  <c:pt idx="3">
                    <c:v>small
appliances</c:v>
                  </c:pt>
                  <c:pt idx="4">
                    <c:v>construction
tools</c:v>
                  </c:pt>
                  <c:pt idx="5">
                    <c:v>luggage
accessories</c:v>
                  </c:pt>
                  <c:pt idx="6">
                    <c:v>home
comfort 2</c:v>
                  </c:pt>
                  <c:pt idx="7">
                    <c:v>party
supplies</c:v>
                  </c:pt>
                  <c:pt idx="8">
                    <c:v>fashion bags</c:v>
                  </c:pt>
                  <c:pt idx="9">
                    <c:v>office
furniture</c:v>
                  </c:pt>
                </c:lvl>
              </c:multiLvlStrCache>
            </c:multiLvlStrRef>
          </c:cat>
          <c:val>
            <c:numRef>
              <c:f>Sheet1!$B$2:$B$11</c:f>
              <c:numCache>
                <c:formatCode>General</c:formatCode>
                <c:ptCount val="10"/>
                <c:pt idx="0">
                  <c:v>18.2</c:v>
                </c:pt>
                <c:pt idx="1">
                  <c:v>17.8</c:v>
                </c:pt>
                <c:pt idx="2">
                  <c:v>16.9</c:v>
                </c:pt>
                <c:pt idx="3">
                  <c:v>15.4</c:v>
                </c:pt>
                <c:pt idx="4">
                  <c:v>14.8</c:v>
                </c:pt>
                <c:pt idx="5">
                  <c:v>14.3</c:v>
                </c:pt>
                <c:pt idx="6">
                  <c:v>13.9</c:v>
                </c:pt>
                <c:pt idx="7">
                  <c:v>13.5</c:v>
                </c:pt>
                <c:pt idx="8">
                  <c:v>13.1</c:v>
                </c:pt>
                <c:pt idx="9">
                  <c:v>12.8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000" u="none">
                  <a:solidFill>
                    <a:srgbClr val="1E293B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3.xml"/><Relationship Id="rId2" Type="http://schemas.openxmlformats.org/officeDocument/2006/relationships/chart" Target="/ppt/charts/chart4.xml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5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1E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943600" y="-1097280"/>
            <a:ext cx="4572000" cy="4572000"/>
          </a:xfrm>
          <a:prstGeom prst="ellipse">
            <a:avLst/>
          </a:prstGeom>
          <a:solidFill>
            <a:srgbClr val="1A3260">
              <a:alpha val="60000"/>
            </a:srgbClr>
          </a:solidFill>
          <a:ln w="12700">
            <a:solidFill>
              <a:srgbClr val="1A3260">
                <a:alpha val="60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02920" y="457200"/>
            <a:ext cx="2011680" cy="347472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2920" y="457200"/>
            <a:ext cx="2011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VERIDI LOGISTICS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502920" y="1005840"/>
            <a:ext cx="53035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Delivery</a:t>
            </a:r>
            <a:endParaRPr lang="en-US" sz="3400" dirty="0"/>
          </a:p>
          <a:p>
            <a:pPr algn="l"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Performance Audit</a:t>
            </a:r>
            <a:endParaRPr lang="en-US" sz="3400" dirty="0"/>
          </a:p>
        </p:txBody>
      </p:sp>
      <p:sp>
        <p:nvSpPr>
          <p:cNvPr id="7" name="Text 5"/>
          <p:cNvSpPr/>
          <p:nvPr/>
        </p:nvSpPr>
        <p:spPr>
          <a:xfrm>
            <a:off x="502920" y="2487168"/>
            <a:ext cx="5303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rgbClr val="93C5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Olist Brazilian E-Commerce Dataset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502920" y="2907792"/>
            <a:ext cx="5303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7BA8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96,478 delivered orders  ·  27 Brazilian states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02920" y="3337560"/>
            <a:ext cx="4114800" cy="0"/>
          </a:xfrm>
          <a:prstGeom prst="line">
            <a:avLst/>
          </a:prstGeom>
          <a:noFill/>
          <a:ln w="19050">
            <a:solidFill>
              <a:srgbClr val="0891B2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02920" y="3547872"/>
            <a:ext cx="5303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7BA8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Josiane Ishimwe  ·  AmaliTech DEG Challenge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6217920" y="1554480"/>
            <a:ext cx="26517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800" b="1" dirty="0">
                <a:solidFill>
                  <a:srgbClr val="DC262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8.1%</a:t>
            </a:r>
            <a:endParaRPr lang="en-US" sz="6800" dirty="0"/>
          </a:p>
        </p:txBody>
      </p:sp>
      <p:sp>
        <p:nvSpPr>
          <p:cNvPr id="12" name="Text 10"/>
          <p:cNvSpPr/>
          <p:nvPr/>
        </p:nvSpPr>
        <p:spPr>
          <a:xfrm>
            <a:off x="6217920" y="2697480"/>
            <a:ext cx="2651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93C5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National Late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93C5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Delivery Rate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B1E3D"/>
          </a:solidFill>
          <a:ln w="12700">
            <a:solidFill>
              <a:srgbClr val="0B1E3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0"/>
            <a:ext cx="8229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Executive Summary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320040" y="868680"/>
            <a:ext cx="4160520" cy="173736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20040" y="868680"/>
            <a:ext cx="64008" cy="173736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84632" y="1051560"/>
            <a:ext cx="384048" cy="384048"/>
          </a:xfrm>
          <a:prstGeom prst="ellipse">
            <a:avLst/>
          </a:prstGeom>
          <a:solidFill>
            <a:srgbClr val="E0F2F7"/>
          </a:solidFill>
          <a:ln w="6350">
            <a:solidFill>
              <a:srgbClr val="0891B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84632" y="105156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891B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01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978408" y="1005840"/>
            <a:ext cx="3337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Deliveries are mostly on time — but failures are severe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978408" y="1490472"/>
            <a:ext cx="33375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91.9% of orders arrive on time. However, the 8.1% that are late disproportionately damage brand reputation.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754880" y="868680"/>
            <a:ext cx="4160520" cy="173736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754880" y="868680"/>
            <a:ext cx="64008" cy="1737360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919472" y="1051560"/>
            <a:ext cx="384048" cy="384048"/>
          </a:xfrm>
          <a:prstGeom prst="ellipse">
            <a:avLst/>
          </a:prstGeom>
          <a:solidFill>
            <a:srgbClr val="FEE2E2"/>
          </a:solidFill>
          <a:ln w="6350">
            <a:solidFill>
              <a:srgbClr val="DC2626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919472" y="105156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DC262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02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5413248" y="1005840"/>
            <a:ext cx="3337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Lateness collapses review scores by 58%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5413248" y="1490472"/>
            <a:ext cx="33375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On-time orders average 4.29 / 5. Super-late orders average just 1.78 / 5 — a catastrophic drop in customer sentiment.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320040" y="2834640"/>
            <a:ext cx="4160520" cy="173736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320040" y="2834640"/>
            <a:ext cx="64008" cy="1737360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84632" y="3017520"/>
            <a:ext cx="384048" cy="384048"/>
          </a:xfrm>
          <a:prstGeom prst="ellipse">
            <a:avLst/>
          </a:prstGeom>
          <a:solidFill>
            <a:srgbClr val="FEF3C7"/>
          </a:solidFill>
          <a:ln w="6350">
            <a:solidFill>
              <a:srgbClr val="D97706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84632" y="301752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D9770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03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978408" y="2971800"/>
            <a:ext cx="3337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Northeast Brazil is the epicentre of delays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978408" y="3456432"/>
            <a:ext cx="33375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 (23.9%), MA (22.1%), and PI (20.4%) are the worst states — all 8+ pp above the 8.1% national average.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4754880" y="2834640"/>
            <a:ext cx="4160520" cy="173736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4754880" y="2834640"/>
            <a:ext cx="64008" cy="1737360"/>
          </a:xfrm>
          <a:prstGeom prst="rect">
            <a:avLst/>
          </a:prstGeom>
          <a:solidFill>
            <a:srgbClr val="15803D"/>
          </a:solidFill>
          <a:ln w="12700">
            <a:solidFill>
              <a:srgbClr val="15803D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4919472" y="3017520"/>
            <a:ext cx="384048" cy="384048"/>
          </a:xfrm>
          <a:prstGeom prst="ellipse">
            <a:avLst/>
          </a:prstGeom>
          <a:solidFill>
            <a:srgbClr val="DCFCE7"/>
          </a:solidFill>
          <a:ln w="6350">
            <a:solidFill>
              <a:srgbClr val="15803D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919472" y="301752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5803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04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5413248" y="2971800"/>
            <a:ext cx="3337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Product category matters — audio &amp; underwear are high-risk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5413248" y="3456432"/>
            <a:ext cx="33375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Categories with high late rates AND low review scores (audio, fashion underwear) need targeted SLA renegotiation.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B1E3D"/>
          </a:solidFill>
          <a:ln w="12700">
            <a:solidFill>
              <a:srgbClr val="0B1E3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0"/>
            <a:ext cx="8229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Story 2 — The Delay Calculator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320040" y="822960"/>
            <a:ext cx="2606040" cy="141732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20040" y="822960"/>
            <a:ext cx="2606040" cy="64008"/>
          </a:xfrm>
          <a:prstGeom prst="rect">
            <a:avLst/>
          </a:prstGeom>
          <a:solidFill>
            <a:srgbClr val="15803D"/>
          </a:solidFill>
          <a:ln w="12700">
            <a:solidFill>
              <a:srgbClr val="15803D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20040" y="960120"/>
            <a:ext cx="2606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15803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91.9%</a:t>
            </a:r>
            <a:endParaRPr lang="en-US" sz="3800" dirty="0"/>
          </a:p>
        </p:txBody>
      </p:sp>
      <p:sp>
        <p:nvSpPr>
          <p:cNvPr id="7" name="Text 5"/>
          <p:cNvSpPr/>
          <p:nvPr/>
        </p:nvSpPr>
        <p:spPr>
          <a:xfrm>
            <a:off x="320040" y="1691640"/>
            <a:ext cx="2606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Time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320040" y="1993392"/>
            <a:ext cx="2606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88,704 orders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3154680" y="822960"/>
            <a:ext cx="2606040" cy="141732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154680" y="822960"/>
            <a:ext cx="2606040" cy="64008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154680" y="960120"/>
            <a:ext cx="2606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D9770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5.1%</a:t>
            </a:r>
            <a:endParaRPr lang="en-US" sz="3800" dirty="0"/>
          </a:p>
        </p:txBody>
      </p:sp>
      <p:sp>
        <p:nvSpPr>
          <p:cNvPr id="12" name="Text 10"/>
          <p:cNvSpPr/>
          <p:nvPr/>
        </p:nvSpPr>
        <p:spPr>
          <a:xfrm>
            <a:off x="3154680" y="1691640"/>
            <a:ext cx="2606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Late (1–5 days)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3154680" y="1993392"/>
            <a:ext cx="2606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4,924 orders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5989320" y="822960"/>
            <a:ext cx="2606040" cy="141732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5989320" y="822960"/>
            <a:ext cx="2606040" cy="64008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989320" y="960120"/>
            <a:ext cx="2606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DC262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3.0%</a:t>
            </a:r>
            <a:endParaRPr lang="en-US" sz="3800" dirty="0"/>
          </a:p>
        </p:txBody>
      </p:sp>
      <p:sp>
        <p:nvSpPr>
          <p:cNvPr id="17" name="Text 15"/>
          <p:cNvSpPr/>
          <p:nvPr/>
        </p:nvSpPr>
        <p:spPr>
          <a:xfrm>
            <a:off x="5989320" y="1691640"/>
            <a:ext cx="2606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Super Late (5+ days)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5989320" y="1993392"/>
            <a:ext cx="2606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2,896 orders</a:t>
            </a:r>
            <a:endParaRPr lang="en-US" sz="1000" dirty="0"/>
          </a:p>
        </p:txBody>
      </p:sp>
      <p:graphicFrame>
        <p:nvGraphicFramePr>
          <p:cNvPr id="19" name="Chart 0" descr=""/>
          <p:cNvGraphicFramePr/>
          <p:nvPr/>
        </p:nvGraphicFramePr>
        <p:xfrm>
          <a:off x="320040" y="2377440"/>
          <a:ext cx="8503920" cy="25603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B1E3D"/>
          </a:solidFill>
          <a:ln w="12700">
            <a:solidFill>
              <a:srgbClr val="0B1E3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0"/>
            <a:ext cx="8229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Story 3 — Late Delivery Rate by State</a:t>
            </a:r>
            <a:endParaRPr lang="en-US" sz="22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320040" y="777240"/>
          <a:ext cx="6309360" cy="41605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Shape 2"/>
          <p:cNvSpPr/>
          <p:nvPr/>
        </p:nvSpPr>
        <p:spPr>
          <a:xfrm>
            <a:off x="6812280" y="777240"/>
            <a:ext cx="2011680" cy="416052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6" name="Text 3"/>
          <p:cNvSpPr/>
          <p:nvPr/>
        </p:nvSpPr>
        <p:spPr>
          <a:xfrm>
            <a:off x="6903720" y="896112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B1E3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Key Insight</a:t>
            </a:r>
            <a:endParaRPr lang="en-US" sz="1200" dirty="0"/>
          </a:p>
        </p:txBody>
      </p:sp>
      <p:sp>
        <p:nvSpPr>
          <p:cNvPr id="7" name="Shape 4"/>
          <p:cNvSpPr/>
          <p:nvPr/>
        </p:nvSpPr>
        <p:spPr>
          <a:xfrm>
            <a:off x="6903720" y="1243584"/>
            <a:ext cx="1645920" cy="0"/>
          </a:xfrm>
          <a:prstGeom prst="line">
            <a:avLst/>
          </a:prstGeom>
          <a:noFill/>
          <a:ln w="12700">
            <a:solidFill>
              <a:srgbClr val="0891B2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6903720" y="1371600"/>
            <a:ext cx="1828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DC262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23.9%</a:t>
            </a:r>
            <a:endParaRPr lang="en-US" sz="2200" dirty="0"/>
          </a:p>
        </p:txBody>
      </p:sp>
      <p:sp>
        <p:nvSpPr>
          <p:cNvPr id="9" name="Text 6"/>
          <p:cNvSpPr/>
          <p:nvPr/>
        </p:nvSpPr>
        <p:spPr>
          <a:xfrm>
            <a:off x="6903720" y="169164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 — worst state</a:t>
            </a:r>
            <a:endParaRPr lang="en-US" sz="1000" dirty="0"/>
          </a:p>
        </p:txBody>
      </p:sp>
      <p:sp>
        <p:nvSpPr>
          <p:cNvPr id="10" name="Text 7"/>
          <p:cNvSpPr/>
          <p:nvPr/>
        </p:nvSpPr>
        <p:spPr>
          <a:xfrm>
            <a:off x="6903720" y="2029968"/>
            <a:ext cx="1828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DC262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22.1%</a:t>
            </a:r>
            <a:endParaRPr lang="en-US" sz="2200" dirty="0"/>
          </a:p>
        </p:txBody>
      </p:sp>
      <p:sp>
        <p:nvSpPr>
          <p:cNvPr id="11" name="Text 8"/>
          <p:cNvSpPr/>
          <p:nvPr/>
        </p:nvSpPr>
        <p:spPr>
          <a:xfrm>
            <a:off x="6903720" y="235000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 — 2nd worst</a:t>
            </a:r>
            <a:endParaRPr lang="en-US" sz="1000" dirty="0"/>
          </a:p>
        </p:txBody>
      </p:sp>
      <p:sp>
        <p:nvSpPr>
          <p:cNvPr id="12" name="Text 9"/>
          <p:cNvSpPr/>
          <p:nvPr/>
        </p:nvSpPr>
        <p:spPr>
          <a:xfrm>
            <a:off x="6903720" y="2688336"/>
            <a:ext cx="1828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DC262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20.4%</a:t>
            </a:r>
            <a:endParaRPr lang="en-US" sz="2200" dirty="0"/>
          </a:p>
        </p:txBody>
      </p:sp>
      <p:sp>
        <p:nvSpPr>
          <p:cNvPr id="13" name="Text 10"/>
          <p:cNvSpPr/>
          <p:nvPr/>
        </p:nvSpPr>
        <p:spPr>
          <a:xfrm>
            <a:off x="6903720" y="3008376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 — 3rd worst</a:t>
            </a:r>
            <a:endParaRPr lang="en-US" sz="1000" dirty="0"/>
          </a:p>
        </p:txBody>
      </p:sp>
      <p:sp>
        <p:nvSpPr>
          <p:cNvPr id="14" name="Shape 11"/>
          <p:cNvSpPr/>
          <p:nvPr/>
        </p:nvSpPr>
        <p:spPr>
          <a:xfrm>
            <a:off x="6903720" y="3429000"/>
            <a:ext cx="1645920" cy="0"/>
          </a:xfrm>
          <a:prstGeom prst="line">
            <a:avLst/>
          </a:prstGeom>
          <a:noFill/>
          <a:ln w="6350">
            <a:solidFill>
              <a:srgbClr val="CBD5E1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6903720" y="3520440"/>
            <a:ext cx="18288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5 worst states are in Northeast Brazil — far from São Paulo's distribution hub.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B1E3D"/>
          </a:solidFill>
          <a:ln w="12700">
            <a:solidFill>
              <a:srgbClr val="0B1E3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0"/>
            <a:ext cx="8229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Story 4 — Lateness Destroys Customer Sentiment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20040" y="777240"/>
            <a:ext cx="4206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Avg Review Score by Delivery Status</a:t>
            </a:r>
            <a:endParaRPr lang="en-US" sz="1300" dirty="0"/>
          </a:p>
        </p:txBody>
      </p:sp>
      <p:graphicFrame>
        <p:nvGraphicFramePr>
          <p:cNvPr id="5" name="Chart 0" descr=""/>
          <p:cNvGraphicFramePr/>
          <p:nvPr/>
        </p:nvGraphicFramePr>
        <p:xfrm>
          <a:off x="320040" y="1170432"/>
          <a:ext cx="4206240" cy="35661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6" name="Text 3"/>
          <p:cNvSpPr/>
          <p:nvPr/>
        </p:nvSpPr>
        <p:spPr>
          <a:xfrm>
            <a:off x="4754880" y="777240"/>
            <a:ext cx="4069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Avg Review Score by Delay Bucket</a:t>
            </a:r>
            <a:endParaRPr lang="en-US" sz="1300" dirty="0"/>
          </a:p>
        </p:txBody>
      </p:sp>
      <p:graphicFrame>
        <p:nvGraphicFramePr>
          <p:cNvPr id="7" name="Chart 1" descr=""/>
          <p:cNvGraphicFramePr/>
          <p:nvPr/>
        </p:nvGraphicFramePr>
        <p:xfrm>
          <a:off x="4754880" y="1170432"/>
          <a:ext cx="4069080" cy="35661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8" name="Shape 4"/>
          <p:cNvSpPr/>
          <p:nvPr/>
        </p:nvSpPr>
        <p:spPr>
          <a:xfrm>
            <a:off x="4754880" y="4407408"/>
            <a:ext cx="4069080" cy="548640"/>
          </a:xfrm>
          <a:prstGeom prst="rect">
            <a:avLst/>
          </a:prstGeom>
          <a:solidFill>
            <a:srgbClr val="E0F2F7"/>
          </a:solidFill>
          <a:ln w="6350">
            <a:solidFill>
              <a:srgbClr val="0891B2"/>
            </a:solidFill>
            <a:prstDash val="solid"/>
          </a:ln>
        </p:spPr>
      </p:sp>
      <p:sp>
        <p:nvSpPr>
          <p:cNvPr id="9" name="Text 5"/>
          <p:cNvSpPr/>
          <p:nvPr/>
        </p:nvSpPr>
        <p:spPr>
          <a:xfrm>
            <a:off x="4846320" y="4462272"/>
            <a:ext cx="38862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0C4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Critical threshold: scores collapse sharply between 3–5 days (3.65) and 6–7 days late (2.30)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B1E3D"/>
          </a:solidFill>
          <a:ln w="12700">
            <a:solidFill>
              <a:srgbClr val="0B1E3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0"/>
            <a:ext cx="8229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Candidate's Choice — Product Category Risk Matrix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20040" y="749808"/>
            <a:ext cx="8503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Late delivery rate (%) — bar colour = avg review (red &lt; 2.5, amber 2.5–3.5, green &gt; 3.5)</a:t>
            </a:r>
            <a:endParaRPr lang="en-US" sz="1000" dirty="0"/>
          </a:p>
        </p:txBody>
      </p:sp>
      <p:graphicFrame>
        <p:nvGraphicFramePr>
          <p:cNvPr id="5" name="Chart 0" descr=""/>
          <p:cNvGraphicFramePr/>
          <p:nvPr/>
        </p:nvGraphicFramePr>
        <p:xfrm>
          <a:off x="320040" y="1051560"/>
          <a:ext cx="8503920" cy="30175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6" name="Shape 3"/>
          <p:cNvSpPr/>
          <p:nvPr/>
        </p:nvSpPr>
        <p:spPr>
          <a:xfrm>
            <a:off x="320040" y="4251960"/>
            <a:ext cx="164592" cy="164592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557784" y="4224528"/>
            <a:ext cx="2468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 review score (&lt; 2.5)</a:t>
            </a:r>
            <a:endParaRPr lang="en-US" sz="1000" dirty="0"/>
          </a:p>
        </p:txBody>
      </p:sp>
      <p:sp>
        <p:nvSpPr>
          <p:cNvPr id="8" name="Shape 5"/>
          <p:cNvSpPr/>
          <p:nvPr/>
        </p:nvSpPr>
        <p:spPr>
          <a:xfrm>
            <a:off x="3154680" y="4251960"/>
            <a:ext cx="164592" cy="164592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3392424" y="4224528"/>
            <a:ext cx="2468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Mid review score (2.5 – 3.5)</a:t>
            </a:r>
            <a:endParaRPr lang="en-US" sz="1000" dirty="0"/>
          </a:p>
        </p:txBody>
      </p:sp>
      <p:sp>
        <p:nvSpPr>
          <p:cNvPr id="10" name="Shape 7"/>
          <p:cNvSpPr/>
          <p:nvPr/>
        </p:nvSpPr>
        <p:spPr>
          <a:xfrm>
            <a:off x="5989320" y="4251960"/>
            <a:ext cx="164592" cy="164592"/>
          </a:xfrm>
          <a:prstGeom prst="rect">
            <a:avLst/>
          </a:prstGeom>
          <a:solidFill>
            <a:srgbClr val="15803D"/>
          </a:solidFill>
          <a:ln w="12700">
            <a:solidFill>
              <a:srgbClr val="15803D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6227064" y="4224528"/>
            <a:ext cx="2468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review score (&gt; 3.5)</a:t>
            </a:r>
            <a:endParaRPr lang="en-US" sz="1000" dirty="0"/>
          </a:p>
        </p:txBody>
      </p:sp>
      <p:sp>
        <p:nvSpPr>
          <p:cNvPr id="12" name="Shape 9"/>
          <p:cNvSpPr/>
          <p:nvPr/>
        </p:nvSpPr>
        <p:spPr>
          <a:xfrm>
            <a:off x="320040" y="4608576"/>
            <a:ext cx="8503920" cy="384048"/>
          </a:xfrm>
          <a:prstGeom prst="rect">
            <a:avLst/>
          </a:prstGeom>
          <a:solidFill>
            <a:srgbClr val="E0F2F7"/>
          </a:solidFill>
          <a:ln w="6350">
            <a:solidFill>
              <a:srgbClr val="0891B2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457200" y="4626864"/>
            <a:ext cx="8229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0C4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action: Prioritise SLA renegotiation for audio &amp; fashion underwear — both show high late rates AND low review scores.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B1E3D"/>
          </a:solidFill>
          <a:ln w="12700">
            <a:solidFill>
              <a:srgbClr val="0B1E3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0"/>
            <a:ext cx="8229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Recommendations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320040" y="804672"/>
            <a:ext cx="4160520" cy="178308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20040" y="804672"/>
            <a:ext cx="64008" cy="1783080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02920" y="987552"/>
            <a:ext cx="384048" cy="384048"/>
          </a:xfrm>
          <a:prstGeom prst="ellipse">
            <a:avLst/>
          </a:prstGeom>
          <a:solidFill>
            <a:srgbClr val="FEE2E2"/>
          </a:solidFill>
          <a:ln w="6350">
            <a:solidFill>
              <a:srgbClr val="DC262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02920" y="98755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DC262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01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1005840" y="941832"/>
            <a:ext cx="33375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Invest in Northeast carrier contracts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1005840" y="1399032"/>
            <a:ext cx="33375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AL, MA, PI are 8+ percentage points above national average. Negotiate dedicated last-mile carriers or open micro-warehouses in Recife or Fortaleza to serve the region.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4754880" y="804672"/>
            <a:ext cx="4160520" cy="178308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754880" y="804672"/>
            <a:ext cx="64008" cy="1783080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937760" y="987552"/>
            <a:ext cx="384048" cy="384048"/>
          </a:xfrm>
          <a:prstGeom prst="ellipse">
            <a:avLst/>
          </a:prstGeom>
          <a:solidFill>
            <a:srgbClr val="FEF3C7"/>
          </a:solidFill>
          <a:ln w="6350">
            <a:solidFill>
              <a:srgbClr val="D97706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937760" y="98755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D9770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02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5440680" y="941832"/>
            <a:ext cx="33375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Set conservative ETAs (under-promise strategy)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5440680" y="1399032"/>
            <a:ext cx="33375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Orders arriving 1–2 days late still score ~4.2/5 — nearly as high as on time. Adding 2–3 buffer days to ETA would convert many 'Late' labels into 'On Time' wins at no extra cost.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320040" y="2834640"/>
            <a:ext cx="4160520" cy="178308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320040" y="2834640"/>
            <a:ext cx="64008" cy="178308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502920" y="3017520"/>
            <a:ext cx="384048" cy="384048"/>
          </a:xfrm>
          <a:prstGeom prst="ellipse">
            <a:avLst/>
          </a:prstGeom>
          <a:solidFill>
            <a:srgbClr val="E0F2F7"/>
          </a:solidFill>
          <a:ln w="6350">
            <a:solidFill>
              <a:srgbClr val="0891B2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02920" y="301752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891B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03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1005840" y="2971800"/>
            <a:ext cx="33375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Target category-specific SLAs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1005840" y="3429000"/>
            <a:ext cx="33375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Audio and fashion underwear combine high late rates with near-1-star reviews. Renegotiate carrier SLAs for these SKUs or upgrade to premium shipping lanes before the next peak season.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4754880" y="2834640"/>
            <a:ext cx="4160520" cy="178308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4754880" y="2834640"/>
            <a:ext cx="64008" cy="1783080"/>
          </a:xfrm>
          <a:prstGeom prst="rect">
            <a:avLst/>
          </a:prstGeom>
          <a:solidFill>
            <a:srgbClr val="15803D"/>
          </a:solidFill>
          <a:ln w="12700">
            <a:solidFill>
              <a:srgbClr val="15803D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4937760" y="3017520"/>
            <a:ext cx="384048" cy="384048"/>
          </a:xfrm>
          <a:prstGeom prst="ellipse">
            <a:avLst/>
          </a:prstGeom>
          <a:solidFill>
            <a:srgbClr val="DCFCE7"/>
          </a:solidFill>
          <a:ln w="6350">
            <a:solidFill>
              <a:srgbClr val="15803D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937760" y="301752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5803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04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5440680" y="2971800"/>
            <a:ext cx="33375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Define a '6-day rule' alert system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5440680" y="3429000"/>
            <a:ext cx="33375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tolerance breaks at the 6–7 day late threshold (score drops from 3.65 to 2.30). Flag any order projected to exceed 5 days late for proactive customer communication.</a:t>
            </a:r>
            <a:endParaRPr lang="en-US" sz="10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B1E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943600" y="-1097280"/>
            <a:ext cx="4572000" cy="4572000"/>
          </a:xfrm>
          <a:prstGeom prst="ellipse">
            <a:avLst/>
          </a:prstGeom>
          <a:solidFill>
            <a:srgbClr val="1A3260">
              <a:alpha val="60000"/>
            </a:srgbClr>
          </a:solidFill>
          <a:ln w="12700">
            <a:solidFill>
              <a:srgbClr val="1A3260">
                <a:alpha val="6000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548640"/>
            <a:ext cx="5029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Key Takeaways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502920" y="1115568"/>
            <a:ext cx="3657600" cy="0"/>
          </a:xfrm>
          <a:prstGeom prst="line">
            <a:avLst/>
          </a:prstGeom>
          <a:noFill/>
          <a:ln w="19050">
            <a:solidFill>
              <a:srgbClr val="0891B2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02920" y="1298448"/>
            <a:ext cx="164592" cy="164592"/>
          </a:xfrm>
          <a:prstGeom prst="ellipse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04672" y="1261872"/>
            <a:ext cx="5303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C9DF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91.9% on time, but 8.1% late — and lateness costs 58% in satisfaction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502920" y="1956816"/>
            <a:ext cx="164592" cy="164592"/>
          </a:xfrm>
          <a:prstGeom prst="ellipse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04672" y="1920240"/>
            <a:ext cx="5303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C9DF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Northeast states (AL, MA, PI) need urgent carrier investment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502920" y="2615184"/>
            <a:ext cx="164592" cy="164592"/>
          </a:xfrm>
          <a:prstGeom prst="ellipse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04672" y="2578608"/>
            <a:ext cx="5303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C9DF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critical threshold is 6 days: customers forgive 1–2 days, not more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502920" y="3273552"/>
            <a:ext cx="164592" cy="164592"/>
          </a:xfrm>
          <a:prstGeom prst="ellipse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04672" y="3236976"/>
            <a:ext cx="5303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C9DF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Audio and fashion categories are the highest-risk product segments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6400800" y="914400"/>
            <a:ext cx="2468880" cy="3200400"/>
          </a:xfrm>
          <a:prstGeom prst="rect">
            <a:avLst/>
          </a:prstGeom>
          <a:solidFill>
            <a:srgbClr val="0891B2">
              <a:alpha val="20000"/>
            </a:srgbClr>
          </a:solidFill>
          <a:ln w="6350">
            <a:solidFill>
              <a:srgbClr val="0891B2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492240" y="1051560"/>
            <a:ext cx="2286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Next Steps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6492240" y="1508760"/>
            <a:ext cx="2286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C9DF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Renegotiate Northeast carrier SLAs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6492240" y="2103120"/>
            <a:ext cx="2286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C9DF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Pilot conservative ETA buffers in AL, MA, PI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6492240" y="2697480"/>
            <a:ext cx="2286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C9DF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Set 6-day late-order alert triggers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6492240" y="3291840"/>
            <a:ext cx="2286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C9DF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Audit audio &amp; underwear supply chain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502920" y="4663440"/>
            <a:ext cx="8321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A7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Josiane Ishimwe  ·  AmaliTech DEG Challenge  ·  Veridi Logistics Audit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Veridi Logistics — Delivery Performance Audit</dc:title>
  <dc:subject>PptxGenJS Presentation</dc:subject>
  <dc:creator>Josiane Ishimwe</dc:creator>
  <cp:lastModifiedBy>Josiane Ishimwe</cp:lastModifiedBy>
  <cp:revision>1</cp:revision>
  <dcterms:created xsi:type="dcterms:W3CDTF">2026-05-02T13:39:44Z</dcterms:created>
  <dcterms:modified xsi:type="dcterms:W3CDTF">2026-05-02T13:39:44Z</dcterms:modified>
</cp:coreProperties>
</file>